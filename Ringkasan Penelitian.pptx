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9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6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0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6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0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7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7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5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5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1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59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hellbreach?utm_source=unsplash&amp;utm_medium=referral&amp;utm_content=creditCopyTex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nsplash.com/photos/airplane-flying-through-dramatic-stormy-clouds-f0ro7CdOQmM?utm_source=unsplash&amp;utm_medium=referral&amp;utm_content=creditCopyTex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1201FD-B9B8-44FB-827C-2B72B2C61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D50380-B737-4843-B657-D1F72ECE0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38A1CE-8855-4800-8759-A56D50C74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0E8BB7-1962-48A1-AE75-138B858AD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4B998B9-5288-4CE0-B72D-57048D824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CCB6E9-345A-4FF8-A88D-3E5CF21D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318E85-96B6-461C-8287-F6CA4968C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6BFD751-AAE9-43DB-8D9F-FBD0019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33B7E8-7994-46BB-A708-1BAEAE9A4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E24BAA5-7F61-4495-857C-97EDFC96F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16A69CD-5F58-4D4E-8784-EF04768B3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B01CAAA-9CED-4D6E-94EF-252DDFCB7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46C2E15-6DB9-400F-A463-3A7488119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48849A-5ABA-4068-B1B8-62885377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026C35F-2E6D-487D-B9F7-C4FEC99C2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96CD3E-B1D7-4FEB-A4C4-9D2224756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5504DA9-0960-480F-A0D1-43F798BA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D211248-4214-4C32-9181-236A5054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C8DA7D9-8888-4AE1-88A9-070E3D39A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EF6DF4-75E2-40AE-898D-8439C1A1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EB5A874-B7FD-462A-B169-E7FDB5AA6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E40B800-A1C4-40CF-B676-3714D7BC6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9DC799A-8E1B-473C-8A5C-61A7E6E17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241FE59-669C-46CE-BD6B-BCC0E38E3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38A03C7-4888-469E-B83E-68A5A252F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949D6E2-575B-4B3B-9200-F89FF6263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192BECB-21C3-4E10-BA4A-1A40B32F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399FED6-669D-4F33-B077-DCABEE44C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F0A4E8B-1AAA-4226-98A8-D787BCF2A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9842F70-1987-4D9B-A998-AB1CA140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2A5A85E-17B3-4952-B61F-2F5B41D63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1FC6E2-FA10-41E8-AD12-66A1CF983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27788A-4F72-52AC-E307-E84B715CE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3956389"/>
            <a:ext cx="6391422" cy="24383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 err="1"/>
              <a:t>Ringkasan</a:t>
            </a:r>
            <a:r>
              <a:rPr lang="en-US" sz="4200" dirty="0"/>
              <a:t> </a:t>
            </a:r>
            <a:r>
              <a:rPr lang="en-US" sz="4200" dirty="0" err="1"/>
              <a:t>Penelitian</a:t>
            </a:r>
            <a:r>
              <a:rPr lang="en-US" sz="4200" dirty="0"/>
              <a:t>:</a:t>
            </a:r>
            <a:br>
              <a:rPr lang="en-US" sz="4200" dirty="0"/>
            </a:br>
            <a:r>
              <a:rPr lang="en-US" sz="4200" dirty="0" err="1"/>
              <a:t>Deteksi</a:t>
            </a:r>
            <a:r>
              <a:rPr lang="en-US" sz="4200" dirty="0"/>
              <a:t> Cumulonimbus </a:t>
            </a:r>
            <a:r>
              <a:rPr lang="en-US" sz="4200" dirty="0" err="1"/>
              <a:t>menggunakan</a:t>
            </a:r>
            <a:r>
              <a:rPr lang="en-US" sz="4200" dirty="0"/>
              <a:t> Data Sounding Udara Atas</a:t>
            </a:r>
            <a:endParaRPr lang="id-ID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738CA-B539-BD7E-0C20-F94C7AE26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9352" y="3956389"/>
            <a:ext cx="4418421" cy="1233206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Stasiun </a:t>
            </a:r>
            <a:r>
              <a:rPr lang="en-US" dirty="0" err="1"/>
              <a:t>Meteorologi</a:t>
            </a:r>
            <a:r>
              <a:rPr lang="en-US" dirty="0"/>
              <a:t> </a:t>
            </a:r>
            <a:r>
              <a:rPr lang="en-US" dirty="0" err="1"/>
              <a:t>Penerbangan</a:t>
            </a:r>
            <a:br>
              <a:rPr lang="en-US" dirty="0"/>
            </a:br>
            <a:r>
              <a:rPr lang="en-US" dirty="0"/>
              <a:t>Soekarno-Hatta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EA990-3967-DA8D-727F-9AA949D8D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33" b="4223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7D6616B-CA16-4E7A-AD49-69268088A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64612-029C-FB31-5C57-40B2E8CBC21A}"/>
              </a:ext>
            </a:extLst>
          </p:cNvPr>
          <p:cNvSpPr txBox="1"/>
          <p:nvPr/>
        </p:nvSpPr>
        <p:spPr>
          <a:xfrm>
            <a:off x="9740455" y="6549182"/>
            <a:ext cx="21565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Photo by </a:t>
            </a:r>
            <a:r>
              <a:rPr lang="en-US" sz="800" dirty="0">
                <a:hlinkClick r:id="rId3"/>
              </a:rPr>
              <a:t>Akbar Rahmat Dhani</a:t>
            </a:r>
            <a:r>
              <a:rPr lang="en-US" sz="800" dirty="0"/>
              <a:t> on </a:t>
            </a:r>
            <a:r>
              <a:rPr lang="en-US" sz="800" dirty="0" err="1">
                <a:hlinkClick r:id="rId4"/>
              </a:rPr>
              <a:t>Unsplash</a:t>
            </a:r>
            <a:r>
              <a:rPr lang="en-US" sz="800" dirty="0"/>
              <a:t> </a:t>
            </a:r>
            <a:endParaRPr lang="id-ID" sz="800" dirty="0"/>
          </a:p>
        </p:txBody>
      </p:sp>
    </p:spTree>
    <p:extLst>
      <p:ext uri="{BB962C8B-B14F-4D97-AF65-F5344CB8AC3E}">
        <p14:creationId xmlns:p14="http://schemas.microsoft.com/office/powerpoint/2010/main" val="285668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DF73-C6C3-9835-C5C6-2836FF4B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731060"/>
          </a:xfrm>
        </p:spPr>
        <p:txBody>
          <a:bodyPr>
            <a:normAutofit fontScale="90000"/>
          </a:bodyPr>
          <a:lstStyle/>
          <a:p>
            <a:r>
              <a:rPr lang="en-US" dirty="0"/>
              <a:t>Tujuan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84ACD-3A08-C41D-8799-2476644BB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57013"/>
            <a:ext cx="10325000" cy="874206"/>
          </a:xfrm>
        </p:spPr>
        <p:txBody>
          <a:bodyPr/>
          <a:lstStyle/>
          <a:p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deep learning: DNN, CNN-1D, TCN untuk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awan</a:t>
            </a:r>
            <a:r>
              <a:rPr lang="en-US" dirty="0"/>
              <a:t> Cumulonimbus </a:t>
            </a:r>
            <a:r>
              <a:rPr lang="en-US" dirty="0" err="1"/>
              <a:t>berbasis</a:t>
            </a:r>
            <a:r>
              <a:rPr lang="en-US" dirty="0"/>
              <a:t> data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stabilitas</a:t>
            </a:r>
            <a:r>
              <a:rPr lang="en-US" dirty="0"/>
              <a:t>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2F74EA-39D5-A693-9298-E73B69D14AA8}"/>
              </a:ext>
            </a:extLst>
          </p:cNvPr>
          <p:cNvSpPr txBox="1">
            <a:spLocks/>
          </p:cNvSpPr>
          <p:nvPr/>
        </p:nvSpPr>
        <p:spPr>
          <a:xfrm>
            <a:off x="691079" y="2777491"/>
            <a:ext cx="10325000" cy="7310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 err="1"/>
              <a:t>Tahapan</a:t>
            </a:r>
            <a:endParaRPr lang="id-ID" sz="4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2EE030-4CE5-53F8-8FB7-2D65E24892CD}"/>
              </a:ext>
            </a:extLst>
          </p:cNvPr>
          <p:cNvSpPr txBox="1">
            <a:spLocks/>
          </p:cNvSpPr>
          <p:nvPr/>
        </p:nvSpPr>
        <p:spPr>
          <a:xfrm>
            <a:off x="691079" y="3652576"/>
            <a:ext cx="5404921" cy="2798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Penyiapan</a:t>
            </a:r>
            <a:r>
              <a:rPr lang="en-US" dirty="0"/>
              <a:t> dan </a:t>
            </a:r>
            <a:r>
              <a:rPr lang="en-US" dirty="0" err="1"/>
              <a:t>pembersihan</a:t>
            </a:r>
            <a:r>
              <a:rPr lang="en-US" dirty="0"/>
              <a:t> data.</a:t>
            </a:r>
          </a:p>
          <a:p>
            <a:r>
              <a:rPr lang="en-US" dirty="0"/>
              <a:t>Prapemrosesan dan </a:t>
            </a:r>
            <a:r>
              <a:rPr lang="en-US" dirty="0" err="1"/>
              <a:t>pembentukan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.</a:t>
            </a:r>
          </a:p>
          <a:p>
            <a:r>
              <a:rPr lang="en-US" dirty="0" err="1"/>
              <a:t>Perancangan</a:t>
            </a:r>
            <a:r>
              <a:rPr lang="en-US" dirty="0"/>
              <a:t> model</a:t>
            </a:r>
          </a:p>
          <a:p>
            <a:r>
              <a:rPr lang="en-US" dirty="0" err="1"/>
              <a:t>Pelatihan</a:t>
            </a:r>
            <a:r>
              <a:rPr lang="en-US" dirty="0"/>
              <a:t> model</a:t>
            </a:r>
          </a:p>
          <a:p>
            <a:r>
              <a:rPr lang="en-US" dirty="0" err="1"/>
              <a:t>Pengujian</a:t>
            </a:r>
            <a:r>
              <a:rPr lang="en-US" dirty="0"/>
              <a:t> model</a:t>
            </a:r>
          </a:p>
          <a:p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metrik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E58240-BABC-58F8-3FB9-CC905F58C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52576"/>
            <a:ext cx="5532120" cy="23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7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A736-3AE1-2BF0-E19F-E26C03B938C8}"/>
              </a:ext>
            </a:extLst>
          </p:cNvPr>
          <p:cNvSpPr txBox="1">
            <a:spLocks/>
          </p:cNvSpPr>
          <p:nvPr/>
        </p:nvSpPr>
        <p:spPr>
          <a:xfrm>
            <a:off x="590595" y="406079"/>
            <a:ext cx="9628579" cy="7310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 err="1"/>
              <a:t>Penyiapan</a:t>
            </a:r>
            <a:r>
              <a:rPr lang="en-US" sz="4100" dirty="0"/>
              <a:t> Data </a:t>
            </a:r>
            <a:r>
              <a:rPr lang="en-US" sz="4100" dirty="0" err="1"/>
              <a:t>s.d.</a:t>
            </a:r>
            <a:r>
              <a:rPr lang="en-US" sz="4100" dirty="0"/>
              <a:t> </a:t>
            </a:r>
            <a:r>
              <a:rPr lang="en-US" sz="4100" dirty="0" err="1"/>
              <a:t>Pembentukan</a:t>
            </a:r>
            <a:r>
              <a:rPr lang="en-US" sz="4100" dirty="0"/>
              <a:t> Fitur</a:t>
            </a:r>
            <a:endParaRPr lang="id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A509F-784C-D57F-A278-C3EA33C5079B}"/>
              </a:ext>
            </a:extLst>
          </p:cNvPr>
          <p:cNvSpPr txBox="1">
            <a:spLocks/>
          </p:cNvSpPr>
          <p:nvPr/>
        </p:nvSpPr>
        <p:spPr>
          <a:xfrm>
            <a:off x="590595" y="1281164"/>
            <a:ext cx="7980649" cy="1793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</a:t>
            </a:r>
            <a:r>
              <a:rPr lang="en-US" dirty="0" err="1"/>
              <a:t>synop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awan</a:t>
            </a:r>
            <a:r>
              <a:rPr lang="en-US" dirty="0"/>
              <a:t> per jam 01 Januari 2020 </a:t>
            </a:r>
            <a:r>
              <a:rPr lang="en-US" dirty="0" err="1"/>
              <a:t>s.d.</a:t>
            </a:r>
            <a:r>
              <a:rPr lang="en-US" dirty="0"/>
              <a:t> 31 </a:t>
            </a:r>
            <a:r>
              <a:rPr lang="en-US" dirty="0" err="1"/>
              <a:t>Desember</a:t>
            </a:r>
            <a:r>
              <a:rPr lang="en-US" dirty="0"/>
              <a:t> 2024 Stasiun </a:t>
            </a:r>
            <a:r>
              <a:rPr lang="en-US" dirty="0" err="1"/>
              <a:t>Meteorologi</a:t>
            </a:r>
            <a:r>
              <a:rPr lang="en-US" dirty="0"/>
              <a:t> </a:t>
            </a:r>
            <a:r>
              <a:rPr lang="en-US" dirty="0" err="1"/>
              <a:t>Soetta</a:t>
            </a:r>
            <a:r>
              <a:rPr lang="en-US" dirty="0"/>
              <a:t>.</a:t>
            </a:r>
          </a:p>
          <a:p>
            <a:r>
              <a:rPr lang="en-US" dirty="0"/>
              <a:t>Data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Stasiun </a:t>
            </a:r>
            <a:r>
              <a:rPr lang="en-US" dirty="0" err="1"/>
              <a:t>Meteorologi</a:t>
            </a:r>
            <a:r>
              <a:rPr lang="en-US" dirty="0"/>
              <a:t> </a:t>
            </a:r>
            <a:r>
              <a:rPr lang="en-US" dirty="0" err="1"/>
              <a:t>Soetta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00 dan </a:t>
            </a:r>
            <a:r>
              <a:rPr lang="en-US" dirty="0" err="1"/>
              <a:t>pukul</a:t>
            </a:r>
            <a:r>
              <a:rPr lang="en-US" dirty="0"/>
              <a:t> 12 UTC </a:t>
            </a:r>
            <a:r>
              <a:rPr lang="en-US" dirty="0" err="1"/>
              <a:t>tanggal</a:t>
            </a:r>
            <a:r>
              <a:rPr lang="en-US" dirty="0"/>
              <a:t> 01 Januari 2020 </a:t>
            </a:r>
            <a:r>
              <a:rPr lang="en-US" dirty="0" err="1"/>
              <a:t>s.d.</a:t>
            </a:r>
            <a:r>
              <a:rPr lang="en-US" dirty="0"/>
              <a:t> 31 </a:t>
            </a:r>
            <a:r>
              <a:rPr lang="en-US" dirty="0" err="1"/>
              <a:t>Desember</a:t>
            </a:r>
            <a:r>
              <a:rPr lang="en-US" dirty="0"/>
              <a:t> 2024.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75C54-D905-0CEE-FABB-CA073071B30A}"/>
              </a:ext>
            </a:extLst>
          </p:cNvPr>
          <p:cNvSpPr txBox="1"/>
          <p:nvPr/>
        </p:nvSpPr>
        <p:spPr>
          <a:xfrm>
            <a:off x="590595" y="3074796"/>
            <a:ext cx="92366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dirty="0"/>
              <a:t>Jumlah data</a:t>
            </a:r>
            <a:r>
              <a:rPr lang="en-US" sz="2000" dirty="0"/>
              <a:t>	</a:t>
            </a:r>
            <a:r>
              <a:rPr lang="id-ID" sz="2000" dirty="0"/>
              <a:t>: 3012 observasi </a:t>
            </a:r>
            <a:r>
              <a:rPr lang="id-ID" sz="2000" dirty="0" err="1"/>
              <a:t>sounding</a:t>
            </a:r>
            <a:endParaRPr lang="id-ID" sz="2000" dirty="0"/>
          </a:p>
          <a:p>
            <a:r>
              <a:rPr lang="id-ID" sz="2000" dirty="0"/>
              <a:t>Jumlah fitur</a:t>
            </a:r>
            <a:r>
              <a:rPr lang="en-US" sz="2000" dirty="0"/>
              <a:t>	</a:t>
            </a:r>
            <a:r>
              <a:rPr lang="id-ID" sz="2000" dirty="0"/>
              <a:t>: </a:t>
            </a:r>
            <a:r>
              <a:rPr lang="id-ID" sz="2000" b="1" dirty="0"/>
              <a:t>29 fitur indeks udara atas</a:t>
            </a:r>
          </a:p>
          <a:p>
            <a:r>
              <a:rPr lang="id-ID" sz="2000" dirty="0"/>
              <a:t>Periode         </a:t>
            </a:r>
            <a:r>
              <a:rPr lang="en-US" sz="2000" dirty="0"/>
              <a:t>	</a:t>
            </a:r>
            <a:r>
              <a:rPr lang="id-ID" sz="2000" dirty="0"/>
              <a:t>: 2020-01-01 12 UTC s.d. 2024-12-31 12 UTC</a:t>
            </a:r>
          </a:p>
          <a:p>
            <a:r>
              <a:rPr lang="id-ID" sz="2000" b="1" dirty="0"/>
              <a:t>Target          </a:t>
            </a:r>
            <a:r>
              <a:rPr lang="en-US" sz="2000" b="1" dirty="0"/>
              <a:t>	</a:t>
            </a:r>
            <a:r>
              <a:rPr lang="id-ID" sz="2000" b="1" dirty="0"/>
              <a:t>: </a:t>
            </a:r>
            <a:r>
              <a:rPr lang="en-US" sz="2000" b="1" dirty="0" err="1"/>
              <a:t>Keberadaan</a:t>
            </a:r>
            <a:r>
              <a:rPr lang="en-US" sz="2000" b="1" dirty="0"/>
              <a:t> </a:t>
            </a:r>
            <a:r>
              <a:rPr lang="en-US" sz="2000" b="1" dirty="0" err="1"/>
              <a:t>awan</a:t>
            </a:r>
            <a:r>
              <a:rPr lang="en-US" sz="2000" b="1" dirty="0"/>
              <a:t> CB di </a:t>
            </a:r>
            <a:r>
              <a:rPr lang="en-US" sz="2000" b="1" dirty="0" err="1"/>
              <a:t>rentang</a:t>
            </a:r>
            <a:r>
              <a:rPr lang="en-US" sz="2000" b="1" dirty="0"/>
              <a:t> H+0 s.d H+12 (</a:t>
            </a:r>
            <a:r>
              <a:rPr lang="en-US" sz="2000" b="1" dirty="0" err="1"/>
              <a:t>dikodekan</a:t>
            </a:r>
            <a:r>
              <a:rPr lang="en-US" sz="2000" b="1" dirty="0"/>
              <a:t> cb_h12)</a:t>
            </a:r>
            <a:endParaRPr lang="id-ID" sz="2000" b="1" dirty="0"/>
          </a:p>
          <a:p>
            <a:r>
              <a:rPr lang="id-ID" sz="2000" dirty="0"/>
              <a:t>Non-CB          </a:t>
            </a:r>
            <a:r>
              <a:rPr lang="en-US" sz="2000" dirty="0"/>
              <a:t>	</a:t>
            </a:r>
            <a:r>
              <a:rPr lang="id-ID" sz="2000" dirty="0"/>
              <a:t>: 1779</a:t>
            </a:r>
            <a:r>
              <a:rPr lang="en-US" sz="2000" dirty="0"/>
              <a:t> </a:t>
            </a:r>
            <a:r>
              <a:rPr lang="en-US" sz="2000" b="1" dirty="0"/>
              <a:t>(59,06%)</a:t>
            </a:r>
            <a:endParaRPr lang="id-ID" sz="2000" b="1" dirty="0"/>
          </a:p>
          <a:p>
            <a:r>
              <a:rPr lang="id-ID" sz="2000" dirty="0"/>
              <a:t>CB              </a:t>
            </a:r>
            <a:r>
              <a:rPr lang="en-US" sz="2000" dirty="0"/>
              <a:t>	</a:t>
            </a:r>
            <a:r>
              <a:rPr lang="id-ID" sz="2000" dirty="0"/>
              <a:t>: 1233</a:t>
            </a:r>
            <a:r>
              <a:rPr lang="en-US" sz="2000" dirty="0"/>
              <a:t> </a:t>
            </a:r>
            <a:r>
              <a:rPr lang="en-US" sz="2000" b="1" dirty="0"/>
              <a:t>(40,94%)</a:t>
            </a:r>
            <a:endParaRPr lang="id-ID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BEED4-4400-5B28-7DC5-2E92D907034B}"/>
              </a:ext>
            </a:extLst>
          </p:cNvPr>
          <p:cNvSpPr txBox="1"/>
          <p:nvPr/>
        </p:nvSpPr>
        <p:spPr>
          <a:xfrm>
            <a:off x="590595" y="5305529"/>
            <a:ext cx="3280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scripts/03_build_dataset.py</a:t>
            </a:r>
          </a:p>
          <a:p>
            <a:r>
              <a:rPr lang="en-US" b="1" dirty="0"/>
              <a:t>outputs/reports/feature_(…).csv</a:t>
            </a:r>
            <a:endParaRPr lang="id-ID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32D38-EEBC-F9FD-CD33-038C446A5197}"/>
              </a:ext>
            </a:extLst>
          </p:cNvPr>
          <p:cNvSpPr txBox="1"/>
          <p:nvPr/>
        </p:nvSpPr>
        <p:spPr>
          <a:xfrm>
            <a:off x="590595" y="5874269"/>
            <a:ext cx="611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1" dirty="0"/>
              <a:t>data</a:t>
            </a:r>
            <a:r>
              <a:rPr lang="en-US" b="1" dirty="0"/>
              <a:t>/</a:t>
            </a:r>
            <a:r>
              <a:rPr lang="id-ID" b="1" dirty="0" err="1"/>
              <a:t>processed</a:t>
            </a:r>
            <a:r>
              <a:rPr lang="en-US" b="1" dirty="0"/>
              <a:t>/cb_dataset_tabular.xlsx</a:t>
            </a:r>
          </a:p>
        </p:txBody>
      </p:sp>
    </p:spTree>
    <p:extLst>
      <p:ext uri="{BB962C8B-B14F-4D97-AF65-F5344CB8AC3E}">
        <p14:creationId xmlns:p14="http://schemas.microsoft.com/office/powerpoint/2010/main" val="335841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D6EB-B386-65E2-121D-362E90EA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B340-49F4-080F-6BFD-3CE902E98473}"/>
              </a:ext>
            </a:extLst>
          </p:cNvPr>
          <p:cNvSpPr txBox="1">
            <a:spLocks/>
          </p:cNvSpPr>
          <p:nvPr/>
        </p:nvSpPr>
        <p:spPr>
          <a:xfrm>
            <a:off x="590595" y="406079"/>
            <a:ext cx="9628579" cy="7310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/>
              <a:t>Preprocessing &amp; </a:t>
            </a:r>
            <a:r>
              <a:rPr lang="en-US" sz="4100" dirty="0" err="1"/>
              <a:t>Perancangan</a:t>
            </a:r>
            <a:r>
              <a:rPr lang="en-US" sz="4100" dirty="0"/>
              <a:t> Model</a:t>
            </a:r>
            <a:endParaRPr lang="id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458A1-D46F-6DEC-C0B3-48E7E555383E}"/>
              </a:ext>
            </a:extLst>
          </p:cNvPr>
          <p:cNvSpPr txBox="1">
            <a:spLocks/>
          </p:cNvSpPr>
          <p:nvPr/>
        </p:nvSpPr>
        <p:spPr>
          <a:xfrm>
            <a:off x="590595" y="1281163"/>
            <a:ext cx="7980649" cy="238648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split: 2020—2022 (Train), 2023 (Val), 2024 (Test).</a:t>
            </a:r>
          </a:p>
          <a:p>
            <a:r>
              <a:rPr lang="en-US" dirty="0" err="1"/>
              <a:t>Menghilangkan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9999, -9999, dan infinity </a:t>
            </a:r>
            <a:r>
              <a:rPr lang="en-US" dirty="0" err="1"/>
              <a:t>menjadi</a:t>
            </a:r>
            <a:r>
              <a:rPr lang="en-US" dirty="0"/>
              <a:t> Missing Value.</a:t>
            </a:r>
          </a:p>
          <a:p>
            <a:r>
              <a:rPr lang="en-US" dirty="0" err="1"/>
              <a:t>Mengisi</a:t>
            </a:r>
            <a:r>
              <a:rPr lang="en-US" dirty="0"/>
              <a:t> Missing Value data Training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Median.</a:t>
            </a:r>
          </a:p>
          <a:p>
            <a:r>
              <a:rPr lang="en-US" dirty="0" err="1"/>
              <a:t>Standardisasi</a:t>
            </a:r>
            <a:r>
              <a:rPr lang="en-US" dirty="0"/>
              <a:t> -&gt; StandardScaler, </a:t>
            </a:r>
            <a:r>
              <a:rPr lang="en-US" dirty="0" err="1"/>
              <a:t>menyamakan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0F4259-C770-0845-8103-C76F1DB6999D}"/>
              </a:ext>
            </a:extLst>
          </p:cNvPr>
          <p:cNvSpPr txBox="1">
            <a:spLocks/>
          </p:cNvSpPr>
          <p:nvPr/>
        </p:nvSpPr>
        <p:spPr>
          <a:xfrm>
            <a:off x="590596" y="4065436"/>
            <a:ext cx="3388551" cy="26267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DNN</a:t>
            </a:r>
          </a:p>
          <a:p>
            <a:pPr lvl="1"/>
            <a:r>
              <a:rPr lang="en-US" dirty="0"/>
              <a:t>Tabel 1 </a:t>
            </a:r>
            <a:r>
              <a:rPr lang="en-US" dirty="0" err="1"/>
              <a:t>pengamatan</a:t>
            </a:r>
            <a:r>
              <a:rPr lang="en-US" dirty="0"/>
              <a:t> </a:t>
            </a:r>
            <a:r>
              <a:rPr lang="en-US" dirty="0" err="1"/>
              <a:t>rason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3 lapis (128, 64, 32)</a:t>
            </a:r>
          </a:p>
          <a:p>
            <a:pPr lvl="1"/>
            <a:r>
              <a:rPr lang="en-US" dirty="0" err="1"/>
              <a:t>ReLU</a:t>
            </a:r>
            <a:r>
              <a:rPr lang="en-US" dirty="0"/>
              <a:t> &amp; batch normalization</a:t>
            </a:r>
          </a:p>
          <a:p>
            <a:pPr lvl="1"/>
            <a:r>
              <a:rPr lang="en-US" dirty="0"/>
              <a:t>Dropout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B8A20-4E96-77EF-30B9-6F02B4FE48D1}"/>
              </a:ext>
            </a:extLst>
          </p:cNvPr>
          <p:cNvSpPr txBox="1">
            <a:spLocks/>
          </p:cNvSpPr>
          <p:nvPr/>
        </p:nvSpPr>
        <p:spPr>
          <a:xfrm>
            <a:off x="4501080" y="4065436"/>
            <a:ext cx="3388551" cy="16118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CNN 1D</a:t>
            </a:r>
          </a:p>
          <a:p>
            <a:pPr lvl="1"/>
            <a:r>
              <a:rPr lang="en-US" dirty="0"/>
              <a:t>Sekuensial 3 </a:t>
            </a:r>
            <a:r>
              <a:rPr lang="en-US" dirty="0" err="1"/>
              <a:t>pengamatan</a:t>
            </a:r>
            <a:r>
              <a:rPr lang="en-US" dirty="0"/>
              <a:t> </a:t>
            </a:r>
            <a:r>
              <a:rPr lang="en-US" dirty="0" err="1"/>
              <a:t>rason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2 lapis (64, 32)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F5F37-ACC8-1880-E37F-1C12E4B0CFD0}"/>
              </a:ext>
            </a:extLst>
          </p:cNvPr>
          <p:cNvSpPr txBox="1">
            <a:spLocks/>
          </p:cNvSpPr>
          <p:nvPr/>
        </p:nvSpPr>
        <p:spPr>
          <a:xfrm>
            <a:off x="8411564" y="4065436"/>
            <a:ext cx="3388551" cy="17626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TCN</a:t>
            </a:r>
          </a:p>
          <a:p>
            <a:pPr lvl="1"/>
            <a:r>
              <a:rPr lang="en-US" dirty="0"/>
              <a:t>Sekuensial 3 </a:t>
            </a:r>
            <a:r>
              <a:rPr lang="en-US" dirty="0" err="1"/>
              <a:t>pengamatan</a:t>
            </a:r>
            <a:r>
              <a:rPr lang="en-US" dirty="0"/>
              <a:t> </a:t>
            </a:r>
            <a:r>
              <a:rPr lang="en-US" dirty="0" err="1"/>
              <a:t>rason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3 Dilation Rate (1, 2, 4)</a:t>
            </a:r>
          </a:p>
          <a:p>
            <a:pPr lvl="1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D8FC8-46CA-2A95-E75F-98940DC42D72}"/>
              </a:ext>
            </a:extLst>
          </p:cNvPr>
          <p:cNvSpPr txBox="1"/>
          <p:nvPr/>
        </p:nvSpPr>
        <p:spPr>
          <a:xfrm>
            <a:off x="8891116" y="1631791"/>
            <a:ext cx="30664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800" b="1" dirty="0"/>
              <a:t>konfigurasi_model_step01.xlsx</a:t>
            </a:r>
          </a:p>
        </p:txBody>
      </p:sp>
    </p:spTree>
    <p:extLst>
      <p:ext uri="{BB962C8B-B14F-4D97-AF65-F5344CB8AC3E}">
        <p14:creationId xmlns:p14="http://schemas.microsoft.com/office/powerpoint/2010/main" val="366068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437BA9-0067-E07F-510B-6912C2439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689924"/>
              </p:ext>
            </p:extLst>
          </p:nvPr>
        </p:nvGraphicFramePr>
        <p:xfrm>
          <a:off x="1235947" y="1467059"/>
          <a:ext cx="9375113" cy="325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283">
                  <a:extLst>
                    <a:ext uri="{9D8B030D-6E8A-4147-A177-3AD203B41FA5}">
                      <a16:colId xmlns:a16="http://schemas.microsoft.com/office/drawing/2014/main" val="3604911090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530898678"/>
                    </a:ext>
                  </a:extLst>
                </a:gridCol>
                <a:gridCol w="1028586">
                  <a:extLst>
                    <a:ext uri="{9D8B030D-6E8A-4147-A177-3AD203B41FA5}">
                      <a16:colId xmlns:a16="http://schemas.microsoft.com/office/drawing/2014/main" val="3723521438"/>
                    </a:ext>
                  </a:extLst>
                </a:gridCol>
                <a:gridCol w="675980">
                  <a:extLst>
                    <a:ext uri="{9D8B030D-6E8A-4147-A177-3AD203B41FA5}">
                      <a16:colId xmlns:a16="http://schemas.microsoft.com/office/drawing/2014/main" val="1884576771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1246480409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3990433236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4054361281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1500938368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2171996646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2856992461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2595812256"/>
                    </a:ext>
                  </a:extLst>
                </a:gridCol>
              </a:tblGrid>
              <a:tr h="813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model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accuracy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 dirty="0" err="1">
                          <a:effectLst/>
                        </a:rPr>
                        <a:t>pod_recall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 dirty="0" err="1">
                          <a:effectLst/>
                        </a:rPr>
                        <a:t>far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f1_score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auc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tn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fp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fn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tp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 dirty="0" err="1">
                          <a:effectLst/>
                        </a:rPr>
                        <a:t>threshold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3553279"/>
                  </a:ext>
                </a:extLst>
              </a:tr>
              <a:tr h="813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DNN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0.7</a:t>
                      </a:r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0.80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0.3</a:t>
                      </a:r>
                      <a:r>
                        <a:rPr lang="en-US" sz="1600" b="1" u="none" strike="noStrike" dirty="0">
                          <a:effectLst/>
                        </a:rPr>
                        <a:t>7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0.7</a:t>
                      </a:r>
                      <a:r>
                        <a:rPr lang="en-US" sz="1600" b="1" u="none" strike="noStrike" dirty="0">
                          <a:effectLst/>
                        </a:rPr>
                        <a:t>1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0.7</a:t>
                      </a:r>
                      <a:r>
                        <a:rPr lang="en-US" sz="1600" b="1" u="none" strike="noStrike" dirty="0">
                          <a:effectLst/>
                        </a:rPr>
                        <a:t>9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229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122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52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211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0.5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9706186"/>
                  </a:ext>
                </a:extLst>
              </a:tr>
              <a:tr h="813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1D-CNN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0.6</a:t>
                      </a:r>
                      <a:r>
                        <a:rPr lang="en-US" sz="1600" b="1" u="none" strike="noStrike" dirty="0">
                          <a:effectLst/>
                        </a:rPr>
                        <a:t>8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0.6</a:t>
                      </a:r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0.37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0.62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0.7</a:t>
                      </a:r>
                      <a:r>
                        <a:rPr lang="en-US" sz="1600" b="1" u="none" strike="noStrike" dirty="0">
                          <a:effectLst/>
                        </a:rPr>
                        <a:t>5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254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97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101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162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0.5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41412355"/>
                  </a:ext>
                </a:extLst>
              </a:tr>
              <a:tr h="813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TCN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0.69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0.7</a:t>
                      </a:r>
                      <a:r>
                        <a:rPr lang="en-US" sz="1600" b="1" u="none" strike="noStrike" dirty="0">
                          <a:effectLst/>
                        </a:rPr>
                        <a:t>5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0.38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0.67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0.7</a:t>
                      </a:r>
                      <a:r>
                        <a:rPr lang="en-US" sz="1600" b="1" u="none" strike="noStrike" dirty="0">
                          <a:effectLst/>
                        </a:rPr>
                        <a:t>8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229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122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67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196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0.5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66102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18896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376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Grandview</vt:lpstr>
      <vt:lpstr>Wingdings</vt:lpstr>
      <vt:lpstr>CosineVTI</vt:lpstr>
      <vt:lpstr>Ringkasan Penelitian: Deteksi Cumulonimbus menggunakan Data Sounding Udara Atas</vt:lpstr>
      <vt:lpstr>Tujuan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Bayu Perdana</dc:creator>
  <cp:lastModifiedBy>Reza Bayu Perdana</cp:lastModifiedBy>
  <cp:revision>2</cp:revision>
  <dcterms:created xsi:type="dcterms:W3CDTF">2026-05-20T22:26:34Z</dcterms:created>
  <dcterms:modified xsi:type="dcterms:W3CDTF">2026-05-22T07:54:58Z</dcterms:modified>
</cp:coreProperties>
</file>